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</ns0:sldIdLst>
  <ns0:sldSz cx="12192000" cy="6858000" type="screen4x3"/>
  <ns0:notesSz cx="6858000" cy="9144000"/>
  <ns0:embeddedFontLst>
    <ns0:embeddedFont>
      <ns0:font typeface="Plus Jakarta Sans"/>
      <ns0:bold ns1:id="rIdFont38"/>
      <ns0:regular ns1:id="rIdFont39"/>
    </ns0:embeddedFont>
    <ns0:embeddedFont>
      <ns0:font typeface="JetBrains Mono"/>
      <ns0:bold ns1:id="rIdFont40"/>
      <ns0:regular ns1:id="rIdFont4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Font38" Type="http://schemas.openxmlformats.org/officeDocument/2006/relationships/font" Target="fonts/fda8e20e-0e8a-43d9-8317-daf9361d5202.fntdata" /><ns0:Relationship Id="rIdFont39" Type="http://schemas.openxmlformats.org/officeDocument/2006/relationships/font" Target="fonts/3cf7cfa0-0374-4c3a-890c-a1f0045253b9.fntdata" /><ns0:Relationship Id="rIdFont40" Type="http://schemas.openxmlformats.org/officeDocument/2006/relationships/font" Target="fonts/746e3499-c6be-44d3-bb6a-fea325133e5e.fntdata" /><ns0:Relationship Id="rIdFont41" Type="http://schemas.openxmlformats.org/officeDocument/2006/relationships/font" Target="fonts/cd537a32-3fdf-4bf6-a443-3bc58ca7551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8911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30784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IBM I ENTERPRISE DEVELOPMENT • 60-75 MIN DEEP DIVE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54634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SQLRPGLE Cursors: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Plus Jakarta Sans"/>
              </a:rPr>
              <a:t> The Ultimate Zero-to-Hero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84265"/>
            <a:ext cx="6762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Complete technical guide: Set-based querying, row processing, performance optimization, dynamic SQL, subfiles, and locking.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28987"/>
            <a:ext cx="26289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328987"/>
            <a:ext cx="26289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328987"/>
            <a:ext cx="26289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328987"/>
            <a:ext cx="26289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60-Minute Masterclass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Comprehensive roadmap covering basic mechanics, architecture, tuning, and enterprise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529012"/>
            <a:ext cx="2786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00 - 15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480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Core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0526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Sets vs Rows, Precompiler, 4 Golden Steps, Host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0925" y="3529012"/>
            <a:ext cx="2786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15 - 30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0925" y="37480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Coding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400526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Free-Form templates, SQLCOD vs SQLSTATE, Data Structures.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225" y="3529012"/>
            <a:ext cx="2786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30 - 45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7480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3. Advanced Cursors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400526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Scrollable, Subfile paging, Dynamic SQL, Positioned Updates.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525" y="3529012"/>
            <a:ext cx="2786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45 - 60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525" y="37480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4. Performance &amp;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525" y="400526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Block fetching, Commitment control, Pitfalls &amp; Live Quiz.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6075"/>
            <a:ext cx="5334000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86075"/>
            <a:ext cx="5334000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295650"/>
            <a:ext cx="3048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29565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Paradigm Clash: Sets vs.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Bridging relational database engine set operations with procedural RPG program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19525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SQL Database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200525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Operates simultaneously on relational sets containing millions of records via declarative statements.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819525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RPG Procedural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200525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Evaluates business logic, complex math, screen subfiles, and output files row-by-row in 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962"/>
            <a:ext cx="537210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128962"/>
            <a:ext cx="537210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Native RPG I/O (F-Specs) vs. SQL Cursors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Understanding why enterprise IBM i code is migrating from CHAIN/READ to SQL Cursors.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05187"/>
            <a:ext cx="63257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Native RPG (F-Spec)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757612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Bound strictly to physical/logical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033837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Requires creation of physical DDS/LF for custom key sorts.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310062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Reads entire physical record width into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405187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Embedded SQL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757612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Dynamic joins across tables without logical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033837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In-line filtering, aggregations, and sorting (`ORDER BY`).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310062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Projects only needed columns, saving memory buffer I/O.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8025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48025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48025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48025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Behind the Scenes: DB2 Precompiler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What happens when you compile an `SQLRPGLE` member using `CRTSQLRPGI`.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15" y="34861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838" y="373380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Source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215" y="4029075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You write `EXEC SQL` inside `.sqlrpgle`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3040" y="34861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6663" y="373380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Precompiler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3040" y="4029075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Converts `EXEC SQL` to `CALL SQLPRC` calls.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865" y="34861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7488" y="373380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RPG Compiler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865" y="4029075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Compiles pure RPG IV source code into program object.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4690" y="348615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8313" y="3733800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Access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4690" y="4029075"/>
            <a:ext cx="2655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DB2 generates runtime package access plan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2957512"/>
            <a:ext cx="5686425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737" y="3386137"/>
            <a:ext cx="3429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a Cursor?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The active pointer navigating a multi-row relational result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986087"/>
            <a:ext cx="50768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Imagine opening a 10,000-page ledger book. Your program cannot process every row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24287"/>
            <a:ext cx="50768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A </a:t>
            </a:r>
            <a:r>
              <a:rPr b="1" sz="1500" i="0" u="none">
                <a:solidFill>
                  <a:srgbClr val="334155"/>
                </a:solidFill>
                <a:latin typeface="Plus Jakarta Sans"/>
              </a:rPr>
              <a:t>Cursor</a:t>
            </a:r>
            <a:r>
              <a:rPr b="0" sz="1500" i="0" u="none">
                <a:solidFill>
                  <a:srgbClr val="334155"/>
                </a:solidFill>
                <a:latin typeface="Plus Jakarta Sans"/>
              </a:rPr>
              <a:t> serves as your dynamic bookmark, holding the active row position as you iterate through the query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5294" y="4081462"/>
            <a:ext cx="22877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Active Bookmark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0" y="4424362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Points precisely to the current row in DB2 memory buffer.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4 Golden Steps of Cursors (D-O-F-C)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Every embedded SQL cursor lifecycle must strictly follow this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DECLARE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Define query blueprint &amp;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Execute SQL and build result 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Read row into host variables.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Release DB2 memory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9887"/>
            <a:ext cx="5400675" cy="20574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2595562"/>
            <a:ext cx="5305425" cy="268605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Host Variables &amp; Colon Prefix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How embedded SQL communicates directly with RPG variables.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824162"/>
            <a:ext cx="4943475" cy="2228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2E8F0"/>
                </a:solidFill>
                <a:latin typeface="Plus Jakarta Sans"/>
              </a:rPr>
              <a:t>dcl-s searchRegion char(2) inz('US'); dcl-s custName char(30); // :searchRegion passed INTO SQL query // :custName populated FROM SQL query exec sql DECLARE c1 CURSOR FOR SELECT CustName FROM Customers WHERE Region = :searchRegion; exec sql OPEN c1; exec sql FETCH NEXT FROM c1 INTO :custName;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186112"/>
            <a:ext cx="636329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The Colon Rule ( :var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38537"/>
            <a:ext cx="49434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Every RPG variable referenced inside `EXEC SQL` MUST start with a colon `:`.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14787"/>
            <a:ext cx="6060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Distinguishes RPG memory variables from DB2 column names.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91012"/>
            <a:ext cx="49434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DC2626"/>
                </a:solidFill>
                <a:latin typeface="Plus Jakarta Sans"/>
              </a:rPr>
              <a:t>• Missing colon = Precompiler treats it as a non-existent DB2 table column!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2824162"/>
            <a:ext cx="4943475" cy="2228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dcl-s searchRegion char(2) inz('US'); dcl-s custName char(30); // :searchRegion passed INTO SQL query // :custName populated FROM SQL query exec sql DECLARE c1 CURSOR FOR SELECT CustName FROM Customers WHERE Region = :searchRegion; exec sql OPEN c1; exec sql FETCH NEXT FROM c1 INTO :custName;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14475"/>
            <a:ext cx="10972800" cy="4733925"/>
          </a:xfrm>
          <a:prstGeom prst="roundRect">
            <a:avLst>
              <a:gd name="adj" fmla="val 24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Standard Free-Form Cursor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Production-ready basic cursor template for RPG IV.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66700" y="1743075"/>
            <a:ext cx="12725400" cy="427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E2E8F0"/>
                </a:solidFill>
                <a:latin typeface="Plus Jakarta Sans"/>
              </a:rPr>
              <a:t>**FREE dcl-s custNo packed(5:0); dcl-s custName char(30); dcl-s bal packed(9:2); exec sql DECLARE c1 CURSOR FOR SELECT CustId, CustName, Balance FROM Customers WHERE Region = 'US'; exec sql OPEN c1; exec sql FETCH NEXT FROM c1 INTO :custNo, :custName, :bal; dow sqlcod = 0; // Execute business calculations and processing exec sql FETCH NEXT FROM c1 INTO :custNo, :custName, :bal; enddo; exec sql CLOSE c1; *inlr = *on;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235696"/>
            <a:ext cx="10610850" cy="3291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**FREE dcl-s custNo packed(5:0); dcl-s custName char(30); dcl-s bal packed(9:2); exec sql DECLARE c1 CURSOR FOR SELECT CustId, CustName, Balance FROM Customers WHERE Region = 'US'; exec sql OPEN c1; exec sql FETCH NEXT FROM c1 INTO :custNo, :custName, :bal; dow sqlcod = 0; // Execute business calculations and processing exec sql FETCH NEXT FROM c1 INTO :custNo, :custName, :bal; enddo; exec sql CLOSE c1; *inlr = *on;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1725"/>
            <a:ext cx="6320730" cy="3057525"/>
          </a:xfrm>
          <a:prstGeom prst="roundRect">
            <a:avLst>
              <a:gd name="adj" fmla="val 37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97030" y="2876550"/>
            <a:ext cx="4385369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 Pattern: Fetching into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Eliminate 10+ individual host variables using RPG data structures.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600325"/>
            <a:ext cx="5958780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2E8F0"/>
                </a:solidFill>
                <a:latin typeface="Plus Jakarta Sans"/>
              </a:rPr>
              <a:t>// Define Data Structure matching SELECT columns dcl-ds custDs qualified; id packed(5:0); name char(30); balance packed(9:2); end-ds; exec sql DECLARE c1 CURSOR FOR SELECT CustId, CustName, Balance FROM Customers; exec sql OPEN c1; // Single DS host variable replaces all individual variables! exec sql FETCH NEXT FROM c1 INTO :custDs;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00325"/>
            <a:ext cx="5958780" cy="2600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// Define Data Structure matching SELECT columns dcl-ds custDs qualified; id packed(5:0); name char(30); balance packed(9:2); end-ds; exec sql DECLARE c1 CURSOR FOR SELECT CustId, CustName, Balance FROM Customers; exec sql OPEN c1; // Single DS host variable replaces all individual variables! exec sql FETCH NEXT FROM c1 INTO :custDs;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5155" y="3114675"/>
            <a:ext cx="475684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5155" y="3448050"/>
            <a:ext cx="400436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Cleaner Code: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Replaces long variable lists in `FETCH` statements.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155" y="3886200"/>
            <a:ext cx="400436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LIKEREC Support: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Can bind DS directly to table definitions.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5155" y="4324350"/>
            <a:ext cx="400436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Type Safety: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Reduces variable mapping order mismatches.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5612"/>
            <a:ext cx="35052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86100"/>
            <a:ext cx="3505200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95612"/>
            <a:ext cx="35052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Decoding Status: SQLCOD vs. SQLSTATE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How DB2 signals row retrieval success, warnings, and end of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271837"/>
            <a:ext cx="3690937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6A34A"/>
                </a:solidFill>
                <a:latin typeface="JetBrains Mono"/>
              </a:rPr>
              <a:t>SQLCOD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81412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284C7"/>
                </a:solidFill>
                <a:latin typeface="JetBrains Mono"/>
              </a:rPr>
              <a:t>SQLSTATE '00000'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862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814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Row successfully retrieved into host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362325"/>
            <a:ext cx="3690937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JetBrains Mono"/>
              </a:rPr>
              <a:t>SQLCOD =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71900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284C7"/>
                </a:solidFill>
                <a:latin typeface="JetBrains Mono"/>
              </a:rPr>
              <a:t>SQLSTATE '02000'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7670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End of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4371975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No more rows remaining in result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271837"/>
            <a:ext cx="3690937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DC2626"/>
                </a:solidFill>
                <a:latin typeface="JetBrains Mono"/>
              </a:rPr>
              <a:t>SQLCOD &lt;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681412"/>
            <a:ext cx="3690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284C7"/>
                </a:solidFill>
                <a:latin typeface="JetBrains Mono"/>
              </a:rPr>
              <a:t>SQLSTATE Class &gt; '02'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986212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Error 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2814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Database failure (e.g. record lock, bad type conversion).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9381"/>
            <a:ext cx="6320730" cy="2500312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97030" y="3167062"/>
            <a:ext cx="4385369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Advanced: Scrollable Cursors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Moving freely forward, backward, and relative inside the result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97981"/>
            <a:ext cx="5958780" cy="2043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2E8F0"/>
                </a:solidFill>
                <a:latin typeface="Plus Jakarta Sans"/>
              </a:rPr>
              <a:t>// Declare Scrollable Cursor exec sql DECLARE c1 SCROLL CURSOR FOR SELECT CustId, CustName FROM Customers; exec sql OPEN c1; // Fetch Navigation Keywords: exec sql FETCH FIRST FROM c1 INTO :no, :name; exec sql FETCH LAST FROM c1 INTO :no, :name; exec sql FETCH PRIOR FROM c1 INTO :no, :name; exec sql FETCH RELATIVE -2 FROM c1 INTO :no, :name;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97981"/>
            <a:ext cx="5958780" cy="2043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// Declare Scrollable Cursor exec sql DECLARE c1 SCROLL CURSOR FOR SELECT CustId, CustName FROM Customers; exec sql OPEN c1; // Fetch Navigation Keywords: exec sql FETCH FIRST FROM c1 INTO :no, :name; exec sql FETCH LAST FROM c1 INTO :no, :name; exec sql FETCH PRIOR FROM c1 INTO :no, :name; exec sql FETCH RELATIVE -2 FROM c1 INTO :no, :name;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5155" y="3405187"/>
            <a:ext cx="475684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Navigation 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5155" y="3738562"/>
            <a:ext cx="47568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FIRST / LAST: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Jump directly to set boundaries.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155" y="3995737"/>
            <a:ext cx="47568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PRIOR: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Walk backwards row by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5155" y="4252912"/>
            <a:ext cx="47568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RELATIVE 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Skip forward/backward n rows.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53721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86100"/>
            <a:ext cx="53721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500437"/>
            <a:ext cx="2286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409950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Use Case: 5250 Screen Subfile Paging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How scrollable cursors power Page-Up / Page-Down subfile 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48112"/>
            <a:ext cx="63257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Page Down (Forward)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243387"/>
            <a:ext cx="602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Loop `FETCH NEXT` 12 times to fill subfile page 2 from cursor 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857625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Page Up (Backward)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152900"/>
            <a:ext cx="49149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Execute `FETCH RELATIVE -24` then load next 12 rows to repopulate previous screen.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52575"/>
            <a:ext cx="10972800" cy="4695825"/>
          </a:xfrm>
          <a:prstGeom prst="roundRect">
            <a:avLst>
              <a:gd name="adj" fmla="val 24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Positioned Updates: FOR UPDATE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Updating or deleting the exact record currently held by the cursor pointer.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66700" y="1781175"/>
            <a:ext cx="12725400" cy="423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E2E8F0"/>
                </a:solidFill>
                <a:latin typeface="Plus Jakarta Sans"/>
              </a:rPr>
              <a:t>// Declare cursor explicitly specifying updatable columns exec sql DECLARE c1 CURSOR FOR SELECT Balance FROM Customers WHERE Status = 'ACT' FOR UPDATE OF Balance; exec sql OPEN c1; exec sql FETCH NEXT FROM c1 INTO :bal; dow sqlcod = 0; // Calculate new balance in RPG bal = bal - monthlyFee; // Update ONLY the active row pointed to by cursor c1 exec sql UPDATE Customers SET Balance = :bal WHERE CURRENT OF c1; exec sql FETCH NEXT FROM c1 INTO :bal; enddo;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321718"/>
            <a:ext cx="10610850" cy="31575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// Declare cursor explicitly specifying updatable columns exec sql DECLARE c1 CURSOR FOR SELECT Balance FROM Customers WHERE Status = 'ACT' FOR UPDATE OF Balance; exec sql OPEN c1; exec sql FETCH NEXT FROM c1 INTO :bal; dow sqlcod = 0; // Calculate new balance in RPG bal = bal - monthlyFee; // Update ONLY the active row pointed to by cursor c1 exec sql UPDATE Customers SET Balance = :bal WHERE CURRENT OF c1; exec sql FETCH NEXT FROM c1 INTO :bal; enddo;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52575"/>
            <a:ext cx="10972800" cy="4695825"/>
          </a:xfrm>
          <a:prstGeom prst="roundRect">
            <a:avLst>
              <a:gd name="adj" fmla="val 24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Hero Level: Dynamic SQL Cursors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Building custom SQL query strings at runtime using `PREPARE`.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66700" y="1781175"/>
            <a:ext cx="12725400" cy="423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E2E8F0"/>
                </a:solidFill>
                <a:latin typeface="Plus Jakarta Sans"/>
              </a:rPr>
              <a:t>dcl-s sqlStmt varchar(500); // Construct SQL string dynamically based on user screen inputs sqlStmt = 'SELECT CustId, Balance FROM Customers WHERE Region = ? ORDER BY ' + userSortCol; // Prepare string into compiled executable SQL statement exec sql PREPARE stmt1 FROM :sqlStmt; // Declare cursor on the prepared statement exec sql DECLARE c1 CURSOR FOR stmt1; // Open passing host variable into parameter marker (?) exec sql OPEN c1 USING :wkRegion;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693193"/>
            <a:ext cx="10610850" cy="2414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dcl-s sqlStmt varchar(500); // Construct SQL string dynamically based on user screen inputs sqlStmt = 'SELECT CustId, Balance FROM Customers WHERE Region = ? ORDER BY ' + userSortCol; // Prepare string into compiled executable SQL statement exec sql PREPARE stmt1 FROM :sqlStmt; // Declare cursor on the prepared statement exec sql DECLARE c1 CURSOR FOR stmt1; // Open passing host variable into parameter marker (?) exec sql OPEN c1 USING :wkRegion;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7525"/>
            <a:ext cx="53530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3057525"/>
            <a:ext cx="53530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81375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381375"/>
            <a:ext cx="342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Performance Optimization: Block Fetching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High-speed batch processing by pulling arrays of rows in a single DB2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29050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FOR READ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143375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Bypasses lock contention and allows DB2 to automatically buffer blocks of rows in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829050"/>
            <a:ext cx="56864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FETCH FOR n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4143375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Fetches 100+ records into a data structure array in one network call, slashing CPU overhead by 80%.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3262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43262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33750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Commitment Control &amp; Isolation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Controlling record lock behavior across batch updates.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1948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WITH NC (No Commit)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14762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No journaling required. Changes are written immediately without transaction rollback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1948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WITH CS (Cursor Stability)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14762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Locks only the row currently positioned under the cursor pointer. Releases lock on next FETCH.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60997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WITH RR (Repeatable Read)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905250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Locks all records fetched by query until program issues COMMIT or ROLLBACK.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6112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86112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86112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Production Pitfalls &amp; Error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Common error conditions freshers will encounter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62337"/>
            <a:ext cx="3690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JetBrains Mono"/>
              </a:rPr>
              <a:t>SQL5001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76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Cursor Already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528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Attempting to OPEN an active cursor without calling CLOSE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462337"/>
            <a:ext cx="3690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JetBrains Mono"/>
              </a:rPr>
              <a:t>SQL0501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7576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Cursor Not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40528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Trying to FETCH or CLOSE a cursor before OPEN executes successfully.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462337"/>
            <a:ext cx="3690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JetBrains Mono"/>
              </a:rPr>
              <a:t>SQL0311 / Data Truncation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57612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Host Var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528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RPG host variable length or data type is smaller than DB2 table column definition.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33750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43262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33750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Enterprise Development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Golden rules every SQLRPGLE developer must follow.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0997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Always Close Defensive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05250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Issue `CLOSE` prior to `OPEN` in called subroutines to prevent SQL5001.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1948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Use FOR READ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14762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Always specify `FOR READ ONLY` unless performing `WHERE CURRENT OF` updates.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60997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Evaluate SQLSTATE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905250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Prefer `SQLSTATE` over `SQLCOD` for ANSI standard cross-platform error handling.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962" y="2247900"/>
            <a:ext cx="600075" cy="53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396" y="3057525"/>
            <a:ext cx="9651206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You Are Now an SQLRPGLE Hero!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6468" y="3790950"/>
            <a:ext cx="773906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Mastered Set vs Rows, D-O-F-C, Scrollable Cursors, Dynamic SQL, Block Fetching, and Isolation.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2875" y="4495800"/>
            <a:ext cx="428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JetBrains Mono"/>
              </a:rPr>
              <a:t>Questions &amp; Live Practice Discussion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7075"/>
            <a:ext cx="257175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176587"/>
            <a:ext cx="257175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267075"/>
            <a:ext cx="257175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267075"/>
            <a:ext cx="257175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Session Agenda (40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From fundamental concepts to enterprise-grade performance tuning.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50520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00 - 10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5285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48125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Sets vs Rows, What is a Cursor, The 4 Golden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3414712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10 - 22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366236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Core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75" y="3957637"/>
            <a:ext cx="2190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Free-Form RPGLE walkthrough, Fetch loops, Status codes.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50520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22 - 32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75285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3. Advanced Topics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048125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Scrollable cursors, Block fetching, Dynamic SQL.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50520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32 - 40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75285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4. Debug &amp;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048125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Troubleshooting SQL5001, locks, live practice.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6075"/>
            <a:ext cx="5334000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86075"/>
            <a:ext cx="5334000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295650"/>
            <a:ext cx="3048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29565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Core Dilemma: Sets vs.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Bridging relational database engines with procedural program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19525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SQL World (Set-Based)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200525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Processes thousands of records simultaneously as a unified set of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819525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RPG World (Procedural)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200525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Evaluates and calculates business rules sequentially, one single row at a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2957512"/>
            <a:ext cx="5686425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737" y="3386137"/>
            <a:ext cx="3429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a Cursor?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The bookmark bridging relational result sets to procedural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38487"/>
            <a:ext cx="50768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Imagine opening a massive ledger book containing thousands of rows. You cannot read everything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976687"/>
            <a:ext cx="50768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A </a:t>
            </a:r>
            <a:r>
              <a:rPr b="1" sz="1500" i="0" u="none">
                <a:solidFill>
                  <a:srgbClr val="334155"/>
                </a:solidFill>
                <a:latin typeface="Plus Jakarta Sans"/>
              </a:rPr>
              <a:t>Cursor</a:t>
            </a:r>
            <a:r>
              <a:rPr b="0" sz="1500" i="0" u="none">
                <a:solidFill>
                  <a:srgbClr val="334155"/>
                </a:solidFill>
                <a:latin typeface="Plus Jakarta Sans"/>
              </a:rPr>
              <a:t> acts as your active bookmark, pointing precisely to the exact row you are inspecting right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1570" y="4081462"/>
            <a:ext cx="187523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Active Pointer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7437" y="4424362"/>
            <a:ext cx="5143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Moves forward step-by-step through query results.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81350"/>
            <a:ext cx="2600325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4 Golden Steps of a Cursor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Every cursor lifecycle must follow this strict execution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DECLARE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Define the SQL statement blueprint.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Execute query and build result 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Retrieve rows one by one into variables.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45757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STEP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7052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4019550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Release database resources cleanly.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52575"/>
            <a:ext cx="10972800" cy="4695825"/>
          </a:xfrm>
          <a:prstGeom prst="roundRect">
            <a:avLst>
              <a:gd name="adj" fmla="val 24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Full Free-Form SQLRPGLE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Standard production structure for sequential row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66700" y="1781175"/>
            <a:ext cx="12725400" cy="423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2E8F0"/>
                </a:solidFill>
                <a:latin typeface="Plus Jakarta Sans"/>
              </a:rPr>
              <a:t>**FREE dcl-s custNo packed(5:0); dcl-s custName char(30); dcl-s bal packed(9:2); exec sql DECLARE c1 CURSOR FOR SELECT CustId, CustName, Balance FROM Customers WHERE Region = 'US'; exec sql OPEN c1; exec sql FETCH NEXT FROM c1 INTO :custNo, :custName, :bal; dow sqlcod = 0; // Process business logic here for each record exec sql FETCH NEXT FROM c1 INTO :custNo, :custName, :bal; enddo; exec sql CLOSE c1; *inlr = *on;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00250"/>
            <a:ext cx="10610850" cy="3800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**FREE dcl-s custNo packed(5:0); dcl-s custName char(30); dcl-s bal packed(9:2); exec sql DECLARE c1 CURSOR FOR SELECT CustId, CustName, Balance FROM Customers WHERE Region = 'US'; exec sql OPEN c1; exec sql FETCH NEXT FROM c1 INTO :custNo, :custName, :bal; dow sqlcod = 0; // Process business logic here for each record exec sql FETCH NEXT FROM c1 INTO :custNo, :custName, :bal; enddo; exec sql CLOSE c1; *inlr = *on;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3505200" cy="1990725"/>
          </a:xfrm>
          <a:prstGeom prst="roundRect">
            <a:avLst>
              <a:gd name="adj" fmla="val 5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62287"/>
            <a:ext cx="3505200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62287"/>
            <a:ext cx="3505200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Decoding Status: SQLCOD vs. SQLSTATE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How your program interprets database results and warnings.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238500"/>
            <a:ext cx="369093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6A34A"/>
                </a:solidFill>
                <a:latin typeface="JetBrains Mono"/>
              </a:rPr>
              <a:t>SQLCOD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67125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284C7"/>
                </a:solidFill>
                <a:latin typeface="JetBrains Mono"/>
              </a:rPr>
              <a:t>SQLSTATE '00000'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8145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7672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Row successfully retrieved into host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338512"/>
            <a:ext cx="369093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JetBrains Mono"/>
              </a:rPr>
              <a:t>SQLCOD =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671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284C7"/>
                </a:solidFill>
                <a:latin typeface="JetBrains Mono"/>
              </a:rPr>
              <a:t>SQLSTATE '02000'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8146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End of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43767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No more rows remaining in result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338512"/>
            <a:ext cx="369093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C2626"/>
                </a:solidFill>
                <a:latin typeface="JetBrains Mono"/>
              </a:rPr>
              <a:t>SQLCOD &lt;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7671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284C7"/>
                </a:solidFill>
                <a:latin typeface="JetBrains Mono"/>
              </a:rPr>
              <a:t>SQLSTATE Class &gt; '02'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4081462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Error 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376737"/>
            <a:ext cx="3690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Critical DB2 failure requiring logic exit.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6320730" cy="2657475"/>
          </a:xfrm>
          <a:prstGeom prst="roundRect">
            <a:avLst>
              <a:gd name="adj" fmla="val 430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97030" y="3167062"/>
            <a:ext cx="4385369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Advanced: Scrollable Cursors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Moving freely forward, backward, and relative inside the result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19400"/>
            <a:ext cx="5958780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"/>
              </a:rPr>
              <a:t>// Declare Scrollable Cursor exec sql DECLARE c1 SCROLL CURSOR FOR SELECT CustId, CustName FROM Customers; exec sql OPEN c1; // Fetch Navigation Keywords: exec sql FETCH FIRST FROM c1 INTO :no, :name; exec sql FETCH LAST FROM c1 INTO :no, :name; exec sql FETCH PRIOR FROM c1 INTO :no, :name; exec sql FETCH RELATIVE -2 FROM c1 INTO :no, :name;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19400"/>
            <a:ext cx="5958780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// Declare Scrollable Cursor exec sql DECLARE c1 SCROLL CURSOR FOR SELECT CustId, CustName FROM Customers; exec sql OPEN c1; // Fetch Navigation Keywords: exec sql FETCH FIRST FROM c1 INTO :no, :name; exec sql FETCH LAST FROM c1 INTO :no, :name; exec sql FETCH PRIOR FROM c1 INTO :no, :name; exec sql FETCH RELATIVE -2 FROM c1 INTO :no, :name;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5155" y="3405187"/>
            <a:ext cx="475684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Key Movements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5155" y="3738562"/>
            <a:ext cx="47568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FIRST / LAST: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Jump directly to extremes.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155" y="3995737"/>
            <a:ext cx="47568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PRIOR: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Walk backwards one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5155" y="4252912"/>
            <a:ext cx="47568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RELATIVE 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Skip forward/backward n rows.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7525"/>
            <a:ext cx="53530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3057525"/>
            <a:ext cx="53530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81375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3381375"/>
            <a:ext cx="342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Performance: Block Fetching &amp; Read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Optimizing database I/O for massive batch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29050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FOR READ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143375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Bypasses lock contention and allows DB2 to buffer rows automatically in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829050"/>
            <a:ext cx="56864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FETCH FOR n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4143375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Retrieves arrays of 100+ records in a single database call, slashing CPU overhead.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52575"/>
            <a:ext cx="10972800" cy="4695825"/>
          </a:xfrm>
          <a:prstGeom prst="roundRect">
            <a:avLst>
              <a:gd name="adj" fmla="val 24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Hero Level: Dynamic SQL Cursors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Building query strings at runtime using PREPARE.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66700" y="1781175"/>
            <a:ext cx="12725400" cy="423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2E8F0"/>
                </a:solidFill>
                <a:latin typeface="Plus Jakarta Sans"/>
              </a:rPr>
              <a:t>dcl-s sqlStmt varchar(500); sqlStmt = 'SELECT CustId, Balance FROM Customers WHERE Region = ? ORDER BY ' + userSortCol; // Prepare and Declare Dynamic Cursor exec sql PREPARE stmt1 FROM :sqlStmt; exec sql DECLARE c1 CURSOR FOR stmt1; // Open with Dynamic Parameter exec sql OPEN c1 USING :wkRegion;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900362"/>
            <a:ext cx="106108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dcl-s sqlStmt varchar(500); sqlStmt = 'SELECT CustId, Balance FROM Customers WHERE Region = ? ORDER BY ' + userSortCol; // Prepare and Declare Dynamic Cursor exec sql PREPARE stmt1 FROM :sqlStmt; exec sql DECLARE c1 CURSOR FOR stmt1; // Open with Dynamic Parameter exec sql OPEN c1 USING :wkRegion;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6112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86112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86112"/>
            <a:ext cx="35052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Production Pitfalls &amp; 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Common error conditions freshers will encounter.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62337"/>
            <a:ext cx="3690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JetBrains Mono"/>
              </a:rPr>
              <a:t>SQL5001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76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Cursor Already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528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Attempting to OPEN an active cursor without calling CLOSE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462337"/>
            <a:ext cx="3690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JetBrains Mono"/>
              </a:rPr>
              <a:t>SQL0501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75761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Cursor Not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40528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Trying to FETCH or CLOSE a cursor before OPEN executes successfully.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462337"/>
            <a:ext cx="3690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JetBrains Mono"/>
              </a:rPr>
              <a:t>Host Var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57612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Truncation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5288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RPG host variable length is smaller than DB2 table column definition.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581275"/>
            <a:ext cx="533400" cy="53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51819" y="3390900"/>
            <a:ext cx="688836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6031" y="4124325"/>
            <a:ext cx="71199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Ready to write production-grade enterprise SQLRPGLE cursors.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